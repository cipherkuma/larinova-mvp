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D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LARINOVA  ·  INDONESIA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Midwifery Segment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high-value, underserved segment with clear product-market fit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immediate regulatory urgency — prepared for Gabriel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Field Research + Regulatory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0" y="914400"/>
            <a:ext cx="2286000" cy="292608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280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midwives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Indonesia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Indonesia's midwifery sector is massive — and almost entirely undigitized.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965960" cy="18288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468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midwives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600200"/>
            <a:ext cx="1965960" cy="18288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0592" y="2468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seen per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midwife per 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600200"/>
            <a:ext cx="1965960" cy="1828800"/>
          </a:xfrm>
          <a:prstGeom prst="rect">
            <a:avLst/>
          </a:prstGeom>
          <a:solidFill>
            <a:srgbClr val="025E7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26864" y="2468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visits required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pregnancy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03136" y="1600200"/>
            <a:ext cx="1965960" cy="1828800"/>
          </a:xfrm>
          <a:prstGeom prst="rect">
            <a:avLst/>
          </a:prstGeom>
          <a:solidFill>
            <a:srgbClr val="013D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691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03136" y="2468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Midwives using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 today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EBF8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11880"/>
            <a:ext cx="109728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Indonesian midwives (Bidan Praktik Mandiri) still use handwritten notebooks and physical record books. There is no app in the market that combines midwifery-specific workflows with AI and full Bahasa Indonesia support. This is a wide-open gap.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PAIN POINTS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midwives struggle with every single 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34747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Manual Documentation Overload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patient data is written 3-4 times in different books (patient card, KIA Book, monthly report, BPJS claim). Every visit = 15-20 min of writing.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743200" cy="34747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17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Partograph During Labor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18013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government-mandated labor monitoring chart must be filled every 30-60 min during delivery — often at night. Midwives report this as their biggest source of exhaustion.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17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Missed Immunization Reminders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8013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immunization schedules span 9+ months. Without an automated system, midwives and mothers frequently miss follow-up appointments.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2743200" cy="34747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1546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SATUSEHAT Compliance Pressure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53872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2025, ALL clinics including independent midwife practices MUST submit electronic records to the government's SATUSEHAT platform. Most midwives don't know how to comply.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1546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54680"/>
            <a:ext cx="2743200" cy="34747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1546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BPJS Claims Are Tedious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53872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Midwives serving BPJS patients must submit separate claim documents for each birth. This requires re-entering data that was already recorded in the patient file.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743200" cy="34747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1546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Monthly Government Reports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53872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mandatory monthly report (PWS-KIA) must be submitted to the local Puskesmas. This is compiled manually from all patient records — taking hours each month.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REGULATORY URGENCY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SATUSEHAT Mandate: A built-in reason for midwives to switch 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2743200"/>
          </a:xfrm>
          <a:prstGeom prst="rect">
            <a:avLst/>
          </a:prstGeom>
          <a:solidFill>
            <a:srgbClr val="1A4A6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—  Law Passed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48716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Permenkes No. 24/2022 mandates all healthcare facilities — including independent midwife clinics — to adopt Electronic Medical Records (EMR) integrated with SATUSEHAT.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51760" cy="2743200"/>
          </a:xfrm>
          <a:prstGeom prst="rect">
            <a:avLst/>
          </a:prstGeom>
          <a:solidFill>
            <a:srgbClr val="0D3B5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00200"/>
            <a:ext cx="265176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—  Enforcement Begins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48716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BPJS Kesehatan requires all primary care providers to integrate with SATUSEHAT before patients can be verified for BPJS coverage. Non-compliant clinics lose BPJS access.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51760" cy="2743200"/>
          </a:xfrm>
          <a:prstGeom prst="rect">
            <a:avLst/>
          </a:prstGeom>
          <a:solidFill>
            <a:srgbClr val="082B4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00200"/>
            <a:ext cx="265176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—  Full Compliance Required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48716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BPJS patients must be verified via API before receiving service. Annual health screening (SRK) records must be submitted digitally — manual submission no longer accepted.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F8A8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544568"/>
            <a:ext cx="8229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Larinova can offer SATUSEHAT compliance as a built-in feature — giving midwives a clear, urgent reason to adopt the platform today.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RECOMMENDATIONS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Larinova needs to build — ranked by impact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2296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0160" y="1280160"/>
            <a:ext cx="64008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280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6400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280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9164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1746504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74650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0624" y="17465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SATUSEHAT + BPJS Integration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203911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patient records to government platform. This is legally required — midwives need this urgently.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6916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69164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4960" y="1746504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74650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46704" y="17465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Partograph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46704" y="203911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labor monitoring chart on phone/tablet, with automatic graphing and alerts for abnormal progression.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6916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69164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1040" y="1746504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174650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72784" y="17465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Digital Record (Pregnancy Journey)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72784" y="203911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 for each antenatal visit — first visit through delivery. Replaces manual writing across multiple books.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73152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2468880" y="2843784"/>
            <a:ext cx="493776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284378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20624" y="28437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 — Midwifery Edition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0624" y="313639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auto-generates SOAP notes and visit summaries from spoken consultations in Bahasa Indonesia.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27889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788920"/>
            <a:ext cx="73152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Shape 35"/>
          <p:cNvSpPr/>
          <p:nvPr/>
        </p:nvSpPr>
        <p:spPr>
          <a:xfrm>
            <a:off x="5394960" y="2843784"/>
            <a:ext cx="493776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0" y="284378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346704" y="28437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Schedule &amp; Reminders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46704" y="313639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infant immunization calendar. Auto-notify midwife and mother 3 days before each due date.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278892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2788920"/>
            <a:ext cx="73152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Shape 41"/>
          <p:cNvSpPr/>
          <p:nvPr/>
        </p:nvSpPr>
        <p:spPr>
          <a:xfrm>
            <a:off x="8321040" y="2843784"/>
            <a:ext cx="493776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284378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272784" y="28437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Monthly Government Report (PWS-KIA)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72784" y="313639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mandatory monthly report for Puskesmas automatically from existing patient data.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38862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88620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9" name="Shape 47"/>
          <p:cNvSpPr/>
          <p:nvPr/>
        </p:nvSpPr>
        <p:spPr>
          <a:xfrm>
            <a:off x="2468880" y="3941064"/>
            <a:ext cx="493776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0" name="Text 48"/>
          <p:cNvSpPr/>
          <p:nvPr/>
        </p:nvSpPr>
        <p:spPr>
          <a:xfrm>
            <a:off x="2468880" y="394106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20624" y="39410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 Book Digital Sync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20624" y="423367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entered once syncs to the government KIA Book format — eliminates double-writing.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0" y="38862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0" y="388620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5" name="Shape 53"/>
          <p:cNvSpPr/>
          <p:nvPr/>
        </p:nvSpPr>
        <p:spPr>
          <a:xfrm>
            <a:off x="5394960" y="3941064"/>
            <a:ext cx="493776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6" name="Text 54"/>
          <p:cNvSpPr/>
          <p:nvPr/>
        </p:nvSpPr>
        <p:spPr>
          <a:xfrm>
            <a:off x="5394960" y="394106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346704" y="39410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Pregnancy Flag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346704" y="423367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detects and flags high-risk pregnancies based on clinical data entered.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26480" y="38862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26480" y="388620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1" name="Shape 59"/>
          <p:cNvSpPr/>
          <p:nvPr/>
        </p:nvSpPr>
        <p:spPr>
          <a:xfrm>
            <a:off x="8321040" y="3941064"/>
            <a:ext cx="493776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2" name="Text 60"/>
          <p:cNvSpPr/>
          <p:nvPr/>
        </p:nvSpPr>
        <p:spPr>
          <a:xfrm>
            <a:off x="8321040" y="3941064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272784" y="39410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&amp; Vaccine Stock Tracker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272784" y="423367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iron tablets, vitamins, vaccines. Alerts when stock is low.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Indonesia has this combination — this is Larinova's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457200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417320"/>
            <a:ext cx="1325880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4173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eKlinik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1325880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417320"/>
            <a:ext cx="1325880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Izidok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1325880" cy="45720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173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EHR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1417320"/>
            <a:ext cx="14630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LARINOVA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874520"/>
            <a:ext cx="20116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1874520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11880" y="1874520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874520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874520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1874520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258568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258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Bahasa Indonesia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2258568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2585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11880" y="2258568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22585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37760" y="2258568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2585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63640" y="2258568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22585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89520" y="2258568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258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2642616"/>
            <a:ext cx="20116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26426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 (Indonesian)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2642616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44" name="Text 42"/>
          <p:cNvSpPr/>
          <p:nvPr/>
        </p:nvSpPr>
        <p:spPr>
          <a:xfrm>
            <a:off x="228600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11880" y="2642616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46" name="Text 44"/>
          <p:cNvSpPr/>
          <p:nvPr/>
        </p:nvSpPr>
        <p:spPr>
          <a:xfrm>
            <a:off x="361188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937760" y="2642616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263640" y="2642616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589520" y="2642616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52" name="Text 50"/>
          <p:cNvSpPr/>
          <p:nvPr/>
        </p:nvSpPr>
        <p:spPr>
          <a:xfrm>
            <a:off x="7589520" y="26426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4320" y="3026664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3026664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Midwifery-Specific Modules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0" y="3026664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2286000" y="30266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611880" y="3026664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3611880" y="30266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937760" y="3026664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937760" y="30266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263640" y="3026664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263640" y="30266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589520" y="3026664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64" name="Text 62"/>
          <p:cNvSpPr/>
          <p:nvPr/>
        </p:nvSpPr>
        <p:spPr>
          <a:xfrm>
            <a:off x="7589520" y="30266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3410712"/>
            <a:ext cx="20116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3410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Partograph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3410712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68" name="Text 66"/>
          <p:cNvSpPr/>
          <p:nvPr/>
        </p:nvSpPr>
        <p:spPr>
          <a:xfrm>
            <a:off x="2286000" y="3410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611880" y="3410712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70" name="Text 68"/>
          <p:cNvSpPr/>
          <p:nvPr/>
        </p:nvSpPr>
        <p:spPr>
          <a:xfrm>
            <a:off x="3611880" y="3410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0" y="3410712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72" name="Text 70"/>
          <p:cNvSpPr/>
          <p:nvPr/>
        </p:nvSpPr>
        <p:spPr>
          <a:xfrm>
            <a:off x="4937760" y="3410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263640" y="3410712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74" name="Text 72"/>
          <p:cNvSpPr/>
          <p:nvPr/>
        </p:nvSpPr>
        <p:spPr>
          <a:xfrm>
            <a:off x="6263640" y="34107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589520" y="3410712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76" name="Text 74"/>
          <p:cNvSpPr/>
          <p:nvPr/>
        </p:nvSpPr>
        <p:spPr>
          <a:xfrm>
            <a:off x="7589520" y="3410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74320" y="379476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SATUSEHAT Integration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286000" y="3794760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228600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3611880" y="3794760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361188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937760" y="3794760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493776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6263640" y="3794760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26364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589520" y="3794760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88" name="Text 86"/>
          <p:cNvSpPr/>
          <p:nvPr/>
        </p:nvSpPr>
        <p:spPr>
          <a:xfrm>
            <a:off x="758952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74320" y="4178808"/>
            <a:ext cx="20116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4178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Immunization Reminders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86000" y="4178808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92" name="Text 90"/>
          <p:cNvSpPr/>
          <p:nvPr/>
        </p:nvSpPr>
        <p:spPr>
          <a:xfrm>
            <a:off x="2286000" y="41788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611880" y="4178808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94" name="Text 92"/>
          <p:cNvSpPr/>
          <p:nvPr/>
        </p:nvSpPr>
        <p:spPr>
          <a:xfrm>
            <a:off x="3611880" y="41788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4937760" y="4178808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96" name="Text 94"/>
          <p:cNvSpPr/>
          <p:nvPr/>
        </p:nvSpPr>
        <p:spPr>
          <a:xfrm>
            <a:off x="4937760" y="41788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6263640" y="4178808"/>
            <a:ext cx="1325880" cy="365760"/>
          </a:xfrm>
          <a:prstGeom prst="rect">
            <a:avLst/>
          </a:prstGeom>
          <a:solidFill>
            <a:srgbClr val="F8FCFE"/>
          </a:solidFill>
          <a:ln/>
        </p:spPr>
      </p:sp>
      <p:sp>
        <p:nvSpPr>
          <p:cNvPr id="98" name="Text 96"/>
          <p:cNvSpPr/>
          <p:nvPr/>
        </p:nvSpPr>
        <p:spPr>
          <a:xfrm>
            <a:off x="6263640" y="417880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7589520" y="4178808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00" name="Text 98"/>
          <p:cNvSpPr/>
          <p:nvPr/>
        </p:nvSpPr>
        <p:spPr>
          <a:xfrm>
            <a:off x="7589520" y="4178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274320" y="4562856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274320" y="4562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PWS-KIA Report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2286000" y="4562856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2286000" y="45628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611880" y="4562856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3611880" y="45628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4937760" y="4562856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4937760" y="45628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6263640" y="4562856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6263640" y="45628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7589520" y="4562856"/>
            <a:ext cx="1463040" cy="36576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12" name="Text 110"/>
          <p:cNvSpPr/>
          <p:nvPr/>
        </p:nvSpPr>
        <p:spPr>
          <a:xfrm>
            <a:off x="7589520" y="4562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365760" y="4809744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Available   ✗ = Not available   Partial = Limited support   Data sourced from competitor websites,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field research to first users — here's what we recommend.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758952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94360" cy="7589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594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Elisa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810512"/>
            <a:ext cx="7543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Elisa (midwife, Jakarta) provided the original insight. She is ready to be our first test user from the midwifery segment and can introduce us to her network of midwives.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758952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94360" cy="7589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31720"/>
            <a:ext cx="594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3-5 more midwife interviews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679192"/>
            <a:ext cx="7543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3-5 more structured interviews with active midwives to validate feature priorities before building. Elisa can facilitate introductions.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412480" cy="758952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594360" cy="7589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00400"/>
            <a:ext cx="594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SATUSEHAT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47872"/>
            <a:ext cx="7543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highest-leverage feature. It creates an urgent, compliance-driven reason for midwives to adopt Larinova — beyond just convenience.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8412480" cy="758952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69080"/>
            <a:ext cx="594360" cy="7589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69080"/>
            <a:ext cx="594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midwifery MVP module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416552"/>
            <a:ext cx="7543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ANC digital record + Partograph + SATUSEHAT submit. These three alone would replace the biggest daily pain points and have no direct Indonesian competitor.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Midwifery Market Opportunity — Larinova Indonesia</dc:title>
  <dc:subject>PptxGenJS Presentation</dc:subject>
  <dc:creator>PptxGenJS</dc:creator>
  <cp:lastModifiedBy>PptxGenJS</cp:lastModifiedBy>
  <cp:revision>1</cp:revision>
  <dcterms:created xsi:type="dcterms:W3CDTF">2026-04-13T02:08:33Z</dcterms:created>
  <dcterms:modified xsi:type="dcterms:W3CDTF">2026-04-13T02:08:33Z</dcterms:modified>
</cp:coreProperties>
</file>